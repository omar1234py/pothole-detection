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43600"/>
            <a:ext cx="548640" cy="54864"/>
          </a:xfrm>
          <a:prstGeom prst="rect">
            <a:avLst/>
          </a:prstGeom>
          <a:solidFill>
            <a:srgbClr val="FDB813"/>
          </a:solidFill>
          <a:ln/>
        </p:spPr>
      </p:sp>
      <p:sp>
        <p:nvSpPr>
          <p:cNvPr id="3" name="Shape 1"/>
          <p:cNvSpPr/>
          <p:nvPr/>
        </p:nvSpPr>
        <p:spPr>
          <a:xfrm>
            <a:off x="1719072" y="5943600"/>
            <a:ext cx="548640" cy="54864"/>
          </a:xfrm>
          <a:prstGeom prst="rect">
            <a:avLst/>
          </a:prstGeom>
          <a:solidFill>
            <a:srgbClr val="FDB813"/>
          </a:solidFill>
          <a:ln/>
        </p:spPr>
      </p:sp>
      <p:sp>
        <p:nvSpPr>
          <p:cNvPr id="4" name="Shape 2"/>
          <p:cNvSpPr/>
          <p:nvPr/>
        </p:nvSpPr>
        <p:spPr>
          <a:xfrm>
            <a:off x="2889504" y="5943600"/>
            <a:ext cx="548640" cy="54864"/>
          </a:xfrm>
          <a:prstGeom prst="rect">
            <a:avLst/>
          </a:prstGeom>
          <a:solidFill>
            <a:srgbClr val="FDB813"/>
          </a:solidFill>
          <a:ln/>
        </p:spPr>
      </p:sp>
      <p:sp>
        <p:nvSpPr>
          <p:cNvPr id="5" name="Shape 3"/>
          <p:cNvSpPr/>
          <p:nvPr/>
        </p:nvSpPr>
        <p:spPr>
          <a:xfrm>
            <a:off x="4059936" y="5943600"/>
            <a:ext cx="548640" cy="54864"/>
          </a:xfrm>
          <a:prstGeom prst="rect">
            <a:avLst/>
          </a:prstGeom>
          <a:solidFill>
            <a:srgbClr val="FDB813"/>
          </a:solidFill>
          <a:ln/>
        </p:spPr>
      </p:sp>
      <p:sp>
        <p:nvSpPr>
          <p:cNvPr id="6" name="Shape 4"/>
          <p:cNvSpPr/>
          <p:nvPr/>
        </p:nvSpPr>
        <p:spPr>
          <a:xfrm>
            <a:off x="5230368" y="5943600"/>
            <a:ext cx="548640" cy="54864"/>
          </a:xfrm>
          <a:prstGeom prst="rect">
            <a:avLst/>
          </a:prstGeom>
          <a:solidFill>
            <a:srgbClr val="FDB813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0" y="5943600"/>
            <a:ext cx="548640" cy="54864"/>
          </a:xfrm>
          <a:prstGeom prst="rect">
            <a:avLst/>
          </a:prstGeom>
          <a:solidFill>
            <a:srgbClr val="FDB813"/>
          </a:solidFill>
          <a:ln/>
        </p:spPr>
      </p:sp>
      <p:sp>
        <p:nvSpPr>
          <p:cNvPr id="8" name="Shape 6"/>
          <p:cNvSpPr/>
          <p:nvPr/>
        </p:nvSpPr>
        <p:spPr>
          <a:xfrm>
            <a:off x="7571232" y="5943600"/>
            <a:ext cx="548640" cy="54864"/>
          </a:xfrm>
          <a:prstGeom prst="rect">
            <a:avLst/>
          </a:prstGeom>
          <a:solidFill>
            <a:srgbClr val="FDB813"/>
          </a:solidFill>
          <a:ln/>
        </p:spPr>
      </p:sp>
      <p:sp>
        <p:nvSpPr>
          <p:cNvPr id="9" name="Shape 7"/>
          <p:cNvSpPr/>
          <p:nvPr/>
        </p:nvSpPr>
        <p:spPr>
          <a:xfrm>
            <a:off x="8741664" y="5943600"/>
            <a:ext cx="548640" cy="54864"/>
          </a:xfrm>
          <a:prstGeom prst="rect">
            <a:avLst/>
          </a:prstGeom>
          <a:solidFill>
            <a:srgbClr val="FDB813"/>
          </a:solidFill>
          <a:ln/>
        </p:spPr>
      </p:sp>
      <p:sp>
        <p:nvSpPr>
          <p:cNvPr id="10" name="Shape 8"/>
          <p:cNvSpPr/>
          <p:nvPr/>
        </p:nvSpPr>
        <p:spPr>
          <a:xfrm>
            <a:off x="9912096" y="5943600"/>
            <a:ext cx="548640" cy="54864"/>
          </a:xfrm>
          <a:prstGeom prst="rect">
            <a:avLst/>
          </a:prstGeom>
          <a:solidFill>
            <a:srgbClr val="FDB813"/>
          </a:solidFill>
          <a:ln/>
        </p:spPr>
      </p:sp>
      <p:sp>
        <p:nvSpPr>
          <p:cNvPr id="11" name="Shape 9"/>
          <p:cNvSpPr/>
          <p:nvPr/>
        </p:nvSpPr>
        <p:spPr>
          <a:xfrm>
            <a:off x="11082528" y="5943600"/>
            <a:ext cx="548640" cy="54864"/>
          </a:xfrm>
          <a:prstGeom prst="rect">
            <a:avLst/>
          </a:prstGeom>
          <a:solidFill>
            <a:srgbClr val="FDB813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DB81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ROAD DETECTOR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22960" y="2788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DB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Pothole &amp; Traffic Sign Detection Using YOLO11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3794760"/>
            <a:ext cx="6035040" cy="2331720"/>
          </a:xfrm>
          <a:prstGeom prst="roundRect">
            <a:avLst>
              <a:gd name="adj" fmla="val 3137"/>
            </a:avLst>
          </a:prstGeom>
          <a:solidFill>
            <a:srgbClr val="34363D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43000" y="39776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DB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4343400"/>
            <a:ext cx="53949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Farah Ashraf Mohamed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Basmala Ahmed AbdelFadeel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Mostafa Omar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Hasan Elsawy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086600" y="3794760"/>
            <a:ext cx="4297680" cy="2331720"/>
          </a:xfrm>
          <a:prstGeom prst="roundRect">
            <a:avLst>
              <a:gd name="adj" fmla="val 3137"/>
            </a:avLst>
          </a:prstGeom>
          <a:solidFill>
            <a:srgbClr val="34363D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0664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DB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06640" y="43891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Zienab Ahmed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Arwa Talha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634472" y="6355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4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18288"/>
          </a:xfrm>
          <a:prstGeom prst="rect">
            <a:avLst/>
          </a:prstGeom>
          <a:solidFill>
            <a:srgbClr val="DADBD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6596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331720"/>
            <a:ext cx="685800" cy="685800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31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Undetected road damage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Potholes and surface damage often go unreported until they cause tire damage, accidents, or traffic injuries.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331720"/>
            <a:ext cx="685800" cy="685800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331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663440" y="324612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inspection is slow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63440" y="397764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authorities rely on periodic human inspection, which is costly, infrequent, and cannot scale to entire road networks.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196596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2331720"/>
            <a:ext cx="685800" cy="685800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2331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458200" y="324612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Missed or unclear signage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58200" y="397764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Faded or obstructed traffic signs are rarely audited, increasing driver confusion and safety risk.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634472" y="6355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17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4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GOAL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18288"/>
          </a:xfrm>
          <a:prstGeom prst="rect">
            <a:avLst/>
          </a:prstGeom>
          <a:solidFill>
            <a:srgbClr val="DADB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6126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automated computer-vision system that detects potholes and traffic signs from images and video, giving road authorities a fast, low-cost way to monitor road conditions and safety.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794760"/>
            <a:ext cx="201168" cy="201168"/>
          </a:xfrm>
          <a:prstGeom prst="ellipse">
            <a:avLst/>
          </a:prstGeom>
          <a:solidFill>
            <a:srgbClr val="FDB81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67588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potholes &amp; traffic signs in real time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361688"/>
            <a:ext cx="201168" cy="201168"/>
          </a:xfrm>
          <a:prstGeom prst="ellipse">
            <a:avLst/>
          </a:prstGeom>
          <a:solidFill>
            <a:srgbClr val="FDB813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24281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both images and video streams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928616"/>
            <a:ext cx="201168" cy="201168"/>
          </a:xfrm>
          <a:prstGeom prst="ellipse">
            <a:avLst/>
          </a:prstGeom>
          <a:solidFill>
            <a:srgbClr val="FDB81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80974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results with counts per frame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5495544"/>
            <a:ext cx="201168" cy="201168"/>
          </a:xfrm>
          <a:prstGeom prst="ellipse">
            <a:avLst/>
          </a:prstGeom>
          <a:solidFill>
            <a:srgbClr val="FDB813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37667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the model through an easy web interface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086600" y="1874520"/>
            <a:ext cx="4526280" cy="4526280"/>
          </a:xfrm>
          <a:prstGeom prst="roundRect">
            <a:avLst>
              <a:gd name="adj" fmla="val 1616"/>
            </a:avLst>
          </a:prstGeom>
          <a:solidFill>
            <a:srgbClr val="24262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52360" y="2148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DB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52360" y="26060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YOLO11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7452360" y="3429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 engine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52360" y="3977640"/>
            <a:ext cx="3840480" cy="18288"/>
          </a:xfrm>
          <a:prstGeom prst="rect">
            <a:avLst/>
          </a:prstGeom>
          <a:solidFill>
            <a:srgbClr val="44464C"/>
          </a:solidFill>
          <a:ln/>
        </p:spPr>
      </p:sp>
      <p:sp>
        <p:nvSpPr>
          <p:cNvPr id="19" name="Text 17"/>
          <p:cNvSpPr/>
          <p:nvPr/>
        </p:nvSpPr>
        <p:spPr>
          <a:xfrm>
            <a:off x="7452360" y="420624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road footage to actionable, per-frame safety insight — automatically.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634472" y="6355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17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4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18288"/>
          </a:xfrm>
          <a:prstGeom prst="rect">
            <a:avLst/>
          </a:prstGeom>
          <a:solidFill>
            <a:srgbClr val="DADBD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7452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03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learns from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of annotated road images covering two key classes: potholes and traffic signs, gathered to reflect real driving conditions — varied lighting, road types, and camera angles.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4114800"/>
            <a:ext cx="146304" cy="14630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0233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Bounding-box annotations per class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4663440"/>
            <a:ext cx="146304" cy="14630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5720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training / validation sets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5212080"/>
            <a:ext cx="146304" cy="14630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51206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road scenes for generalization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87452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24262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37960" y="2194560"/>
            <a:ext cx="640080" cy="640080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540" dirty="0"/>
          </a:p>
        </p:txBody>
      </p:sp>
      <p:sp>
        <p:nvSpPr>
          <p:cNvPr id="17" name="Text 15"/>
          <p:cNvSpPr/>
          <p:nvPr/>
        </p:nvSpPr>
        <p:spPr>
          <a:xfrm>
            <a:off x="7315200" y="2240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Pothole class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0" y="265176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damage that poses a direct hazard to vehicles.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25196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24262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572000"/>
            <a:ext cx="640080" cy="640080"/>
          </a:xfrm>
          <a:prstGeom prst="ellipse">
            <a:avLst/>
          </a:prstGeom>
          <a:solidFill>
            <a:srgbClr val="FDB813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572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540" dirty="0"/>
          </a:p>
        </p:txBody>
      </p:sp>
      <p:sp>
        <p:nvSpPr>
          <p:cNvPr id="22" name="Text 20"/>
          <p:cNvSpPr/>
          <p:nvPr/>
        </p:nvSpPr>
        <p:spPr>
          <a:xfrm>
            <a:off x="7315200" y="4617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sign class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0" y="50292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and warning signs the model learns to locate.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634472" y="6355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17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4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DATA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18288"/>
          </a:xfrm>
          <a:prstGeom prst="rect">
            <a:avLst/>
          </a:prstGeom>
          <a:solidFill>
            <a:srgbClr val="DADBD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0312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03120"/>
            <a:ext cx="3520440" cy="109728"/>
          </a:xfrm>
          <a:prstGeom prst="rect">
            <a:avLst/>
          </a:prstGeom>
          <a:solidFill>
            <a:srgbClr val="FDB81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774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DA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Resize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frames/images resized to a fixed 640×640 input, matching YOLO11's expected input size.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93192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8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43400" y="210312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2103120"/>
            <a:ext cx="3520440" cy="109728"/>
          </a:xfrm>
          <a:prstGeom prst="rect">
            <a:avLst/>
          </a:prstGeom>
          <a:solidFill>
            <a:srgbClr val="E8491D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3774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DA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617720" y="31089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17720" y="361188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values scaled so the network trains and infers consistently across images.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2668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8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138160" y="210312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38160" y="2103120"/>
            <a:ext cx="3520440" cy="109728"/>
          </a:xfrm>
          <a:prstGeom prst="rect">
            <a:avLst/>
          </a:prstGeom>
          <a:solidFill>
            <a:srgbClr val="FDB813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23774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DA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412480" y="31089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 &amp; Label Check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12480" y="361188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and bounding-box labels validated and converted into the format YOLO training expects.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634472" y="6355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17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4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DATA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Augmentation &amp; Balancing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18288"/>
          </a:xfrm>
          <a:prstGeom prst="rect">
            <a:avLst/>
          </a:prstGeom>
          <a:solidFill>
            <a:srgbClr val="DADB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FDB81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10" dirty="0"/>
          </a:p>
        </p:txBody>
      </p:sp>
      <p:sp>
        <p:nvSpPr>
          <p:cNvPr id="8" name="Text 6"/>
          <p:cNvSpPr/>
          <p:nvPr/>
        </p:nvSpPr>
        <p:spPr>
          <a:xfrm>
            <a:off x="1234440" y="2395728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flips &amp; rotations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502920" cy="502920"/>
          </a:xfrm>
          <a:prstGeom prst="ellipse">
            <a:avLst/>
          </a:prstGeom>
          <a:solidFill>
            <a:srgbClr val="FDB81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1234440" y="3355848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/ contrast changes to mimic weather &amp; time of day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02920" cy="502920"/>
          </a:xfrm>
          <a:prstGeom prst="ellipse">
            <a:avLst/>
          </a:prstGeom>
          <a:solidFill>
            <a:srgbClr val="FDB81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10" dirty="0"/>
          </a:p>
        </p:txBody>
      </p:sp>
      <p:sp>
        <p:nvSpPr>
          <p:cNvPr id="14" name="Text 12"/>
          <p:cNvSpPr/>
          <p:nvPr/>
        </p:nvSpPr>
        <p:spPr>
          <a:xfrm>
            <a:off x="1234440" y="4315968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 augmentation, combining multiple images per training sample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920240"/>
            <a:ext cx="18288" cy="4297680"/>
          </a:xfrm>
          <a:prstGeom prst="rect">
            <a:avLst/>
          </a:prstGeom>
          <a:solidFill>
            <a:srgbClr val="DADBD8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1920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Balancing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75120" y="242316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Pothole and traffic-sign examples are balanced so the model doesn't become biased toward the more frequent class, keeping detection reliable for both.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75120" y="3794760"/>
            <a:ext cx="4937760" cy="2377440"/>
          </a:xfrm>
          <a:prstGeom prst="roundRect">
            <a:avLst>
              <a:gd name="adj" fmla="val 3077"/>
            </a:avLst>
          </a:prstGeom>
          <a:solidFill>
            <a:srgbClr val="24262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95160" y="40233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DB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95160" y="4389120"/>
            <a:ext cx="4297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detects both hazards and signage with equal confidence — not one that over-favors whichever class had more samples.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634472" y="6355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17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DB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MODEL CHOICE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YOLO11?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18288"/>
          </a:xfrm>
          <a:prstGeom prst="rect">
            <a:avLst/>
          </a:prstGeom>
          <a:solidFill>
            <a:srgbClr val="44464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659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34363D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286000"/>
            <a:ext cx="594360" cy="594360"/>
          </a:xfrm>
          <a:prstGeom prst="ellipse">
            <a:avLst/>
          </a:prstGeom>
          <a:solidFill>
            <a:srgbClr val="FDB81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86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1645920" y="2240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Speed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88036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Single-stage detection processes full frames in one pass, fast enough for live video.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34363D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286000"/>
            <a:ext cx="594360" cy="594360"/>
          </a:xfrm>
          <a:prstGeom prst="ellipse">
            <a:avLst/>
          </a:prstGeom>
          <a:solidFill>
            <a:srgbClr val="FDB813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286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7269480" y="2240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Latest Architecture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88036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newest Ultralytics YOLO release, with improved accuracy-to-speed trade-offs over prior versions.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34363D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617720"/>
            <a:ext cx="594360" cy="594360"/>
          </a:xfrm>
          <a:prstGeom prst="ellipse">
            <a:avLst/>
          </a:prstGeom>
          <a:solidFill>
            <a:srgbClr val="FDB81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617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1645920" y="45720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Accuracy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521208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mAP even on small, irregular objects like potholes and distant signage.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429768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34363D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92240" y="4617720"/>
            <a:ext cx="594360" cy="594360"/>
          </a:xfrm>
          <a:prstGeom prst="ellipse">
            <a:avLst/>
          </a:prstGeom>
          <a:solidFill>
            <a:srgbClr val="FDB813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4617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7269480" y="45720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 Deployment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2240" y="521208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enough to run in a Colab notebook and serve through a simple web app.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634472" y="6355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4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YOLO11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18288"/>
          </a:xfrm>
          <a:prstGeom prst="rect">
            <a:avLst/>
          </a:prstGeom>
          <a:solidFill>
            <a:srgbClr val="DADBD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01752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E8491D"/>
          </a:solidFill>
          <a:ln w="12700">
            <a:solidFill>
              <a:srgbClr val="DADBD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3108960"/>
            <a:ext cx="16367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 / Frame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331720" y="34747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8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68880" y="301752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BD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42032" y="3108960"/>
            <a:ext cx="16367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(feature extraction)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51960" y="34747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8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89120" y="301752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BD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62272" y="3108960"/>
            <a:ext cx="16367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(feature fusion)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172200" y="34747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8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09360" y="301752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BD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82512" y="3108960"/>
            <a:ext cx="16367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(box + class prediction)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092440" y="34747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8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0" y="301752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BD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02752" y="3108960"/>
            <a:ext cx="16367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(clean duplicate boxes)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012680" y="34747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8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149840" y="301752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E8491D"/>
          </a:solidFill>
          <a:ln w="12700">
            <a:solidFill>
              <a:srgbClr val="DADBD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222992" y="3108960"/>
            <a:ext cx="16367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Detections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8463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 enters once and flows straight through — extraction, fusion, and prediction all in a single pass, which is what makes YOLO fast enough for live video.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634472" y="6355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4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MODEL BUILDING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18288"/>
          </a:xfrm>
          <a:prstGeom prst="rect">
            <a:avLst/>
          </a:prstGeom>
          <a:solidFill>
            <a:srgbClr val="DADBD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74520"/>
            <a:ext cx="54864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03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Approach: Transfer Learning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starts from YOLO11's pretrained weights rather than from scratch, then fine-tunes on the road dataset — reaching good accuracy with far less data and time.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4160520"/>
            <a:ext cx="146304" cy="14630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0690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YOLO11 weights as the starting point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4709160"/>
            <a:ext cx="146304" cy="14630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61772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the pothole &amp; traffic-sign dataset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5257800"/>
            <a:ext cx="146304" cy="14630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516636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and balancing applied during training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187452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24262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2940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DB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29400" y="23774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640 × 640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309360" y="329184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24262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3474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DB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629400" y="37947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0.25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309360" y="470916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24262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29400" y="4892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DB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SOURCE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29400" y="52120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Frame-by-frame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634472" y="6355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17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4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MODEL BUILDING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18288"/>
          </a:xfrm>
          <a:prstGeom prst="rect">
            <a:avLst/>
          </a:prstGeom>
          <a:solidFill>
            <a:srgbClr val="DADB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is measured with standard object-detection metrics, giving a clear picture of both how many hazards are found and how precisely they're localized.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24262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8346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DB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365760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detections made, how many were correct.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260604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1880" y="28346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4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11880" y="365760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real potholes/signs, how many were found.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260604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24262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28346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DB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mAP@0.5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46520" y="365760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detection accuracy at a standard overlap threshold.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52560" y="260604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81160" y="28346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4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mAP@0.5:0.95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281160" y="365760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Stricter accuracy averaged across overlap thresholds.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with a confusion matrix, these metrics confirm the model is reliable across both the pothole and traffic-sign classes.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634472" y="6355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4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18288"/>
          </a:xfrm>
          <a:prstGeom prst="rect">
            <a:avLst/>
          </a:prstGeom>
          <a:solidFill>
            <a:srgbClr val="DADB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real road imagery, the model draws bounding boxes and class labels directly on each frame — the same annotated output used throughout the video and Gradio pipelines.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3611880" cy="3017520"/>
          </a:xfrm>
          <a:prstGeom prst="roundRect">
            <a:avLst>
              <a:gd name="adj" fmla="val 1818"/>
            </a:avLst>
          </a:prstGeom>
          <a:solidFill>
            <a:srgbClr val="24262B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3749040"/>
            <a:ext cx="1463040" cy="914400"/>
          </a:xfrm>
          <a:prstGeom prst="rect">
            <a:avLst/>
          </a:prstGeom>
          <a:ln w="31750">
            <a:solidFill>
              <a:srgbClr val="E849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Pothole detected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51663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frame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2651760"/>
            <a:ext cx="3611880" cy="3017520"/>
          </a:xfrm>
          <a:prstGeom prst="roundRect">
            <a:avLst>
              <a:gd name="adj" fmla="val 1818"/>
            </a:avLst>
          </a:prstGeom>
          <a:solidFill>
            <a:srgbClr val="24262B"/>
          </a:solidFill>
          <a:ln/>
        </p:spPr>
      </p:sp>
      <p:sp>
        <p:nvSpPr>
          <p:cNvPr id="11" name="Shape 9"/>
          <p:cNvSpPr/>
          <p:nvPr/>
        </p:nvSpPr>
        <p:spPr>
          <a:xfrm>
            <a:off x="5440680" y="3749040"/>
            <a:ext cx="1463040" cy="914400"/>
          </a:xfrm>
          <a:prstGeom prst="rect">
            <a:avLst/>
          </a:prstGeom>
          <a:ln w="31750">
            <a:solidFill>
              <a:srgbClr val="FDB81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DB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sign detected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34840" y="51663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frame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21040" y="2651760"/>
            <a:ext cx="3611880" cy="3017520"/>
          </a:xfrm>
          <a:prstGeom prst="roundRect">
            <a:avLst>
              <a:gd name="adj" fmla="val 1818"/>
            </a:avLst>
          </a:prstGeom>
          <a:solidFill>
            <a:srgbClr val="24262B"/>
          </a:solidFill>
          <a:ln/>
        </p:spPr>
      </p:sp>
      <p:sp>
        <p:nvSpPr>
          <p:cNvPr id="15" name="Shape 13"/>
          <p:cNvSpPr/>
          <p:nvPr/>
        </p:nvSpPr>
        <p:spPr>
          <a:xfrm>
            <a:off x="9326880" y="3749040"/>
            <a:ext cx="1463040" cy="914400"/>
          </a:xfrm>
          <a:prstGeom prst="rect">
            <a:avLst/>
          </a:prstGeom>
          <a:ln w="31750">
            <a:solidFill>
              <a:srgbClr val="FDB81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DB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detections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21040" y="51663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frame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634472" y="6355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4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Counting &amp; Road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18288"/>
          </a:xfrm>
          <a:prstGeom prst="rect">
            <a:avLst/>
          </a:prstGeom>
          <a:solidFill>
            <a:srgbClr val="DADB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Detections alone aren't enough — the system also counts what it finds, turning raw boxes into a usable road-condition summary.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34924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743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Per-frame counting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processed frame's detections are tallied by class name using a Counter, separating pothole counts from traffic-sign counts.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4434840"/>
            <a:ext cx="146304" cy="14630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343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the maximum potholes seen in a single frame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5001768"/>
            <a:ext cx="146304" cy="14630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9103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the maximum traffic signs seen in a single frame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5568696"/>
            <a:ext cx="146304" cy="14630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547725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totals updated as the video is processed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2514600"/>
            <a:ext cx="5532120" cy="3840480"/>
          </a:xfrm>
          <a:prstGeom prst="roundRect">
            <a:avLst>
              <a:gd name="adj" fmla="val 1905"/>
            </a:avLst>
          </a:prstGeom>
          <a:solidFill>
            <a:srgbClr val="24262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2743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DB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OUTPUT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3108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Markdown-style summary is generated per video, e.g.: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0" y="37033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🕳️ Max potholes / frame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966960" y="37033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DB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42062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Max traffic signs / frame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966960" y="4206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DB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47091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🎞️ Frames processed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966960" y="47091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DB8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53492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A9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counts reflect the maximum detected in any single frame, not a running sum.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634472" y="6355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4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Detection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18288"/>
          </a:xfrm>
          <a:prstGeom prst="rect">
            <a:avLst/>
          </a:prstGeom>
          <a:solidFill>
            <a:srgbClr val="DADB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detect_video() function turns any uploaded road video into an annotated result, frame by frame.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697480"/>
            <a:ext cx="502920" cy="502920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9" name="Text 7"/>
          <p:cNvSpPr/>
          <p:nvPr/>
        </p:nvSpPr>
        <p:spPr>
          <a:xfrm>
            <a:off x="804672" y="33375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video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04672" y="388620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opens the file, reading FPS, width and height (defaulting to 30 FPS if unavailable).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246888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85032" y="2697480"/>
            <a:ext cx="502920" cy="502920"/>
          </a:xfrm>
          <a:prstGeom prst="ellipse">
            <a:avLst/>
          </a:prstGeom>
          <a:solidFill>
            <a:srgbClr val="FDB813"/>
          </a:solidFill>
          <a:ln/>
        </p:spPr>
      </p:sp>
      <p:sp>
        <p:nvSpPr>
          <p:cNvPr id="13" name="Text 11"/>
          <p:cNvSpPr/>
          <p:nvPr/>
        </p:nvSpPr>
        <p:spPr>
          <a:xfrm>
            <a:off x="3685032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4" name="Text 12"/>
          <p:cNvSpPr/>
          <p:nvPr/>
        </p:nvSpPr>
        <p:spPr>
          <a:xfrm>
            <a:off x="3685032" y="33375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per frame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685032" y="388620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frame is passed to the YOLO11 model at 640px with a 0.25 confidence threshold.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246888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65392" y="2697480"/>
            <a:ext cx="502920" cy="502920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8" name="Text 16"/>
          <p:cNvSpPr/>
          <p:nvPr/>
        </p:nvSpPr>
        <p:spPr>
          <a:xfrm>
            <a:off x="6565392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9" name="Text 17"/>
          <p:cNvSpPr/>
          <p:nvPr/>
        </p:nvSpPr>
        <p:spPr>
          <a:xfrm>
            <a:off x="6565392" y="33375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Annotate &amp; count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565392" y="388620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are drawn on the frame; a Counter tallies potholes vs. traffic signs for that frame.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246888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445752" y="2697480"/>
            <a:ext cx="502920" cy="502920"/>
          </a:xfrm>
          <a:prstGeom prst="ellipse">
            <a:avLst/>
          </a:prstGeom>
          <a:solidFill>
            <a:srgbClr val="FDB813"/>
          </a:solidFill>
          <a:ln/>
        </p:spPr>
      </p:sp>
      <p:sp>
        <p:nvSpPr>
          <p:cNvPr id="23" name="Text 21"/>
          <p:cNvSpPr/>
          <p:nvPr/>
        </p:nvSpPr>
        <p:spPr>
          <a:xfrm>
            <a:off x="9445752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10" dirty="0"/>
          </a:p>
        </p:txBody>
      </p:sp>
      <p:sp>
        <p:nvSpPr>
          <p:cNvPr id="24" name="Text 22"/>
          <p:cNvSpPr/>
          <p:nvPr/>
        </p:nvSpPr>
        <p:spPr>
          <a:xfrm>
            <a:off x="9445752" y="33375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&amp; report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445752" y="388620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frames are written to an output MP4, and a summary report is built from the running max counts.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634472" y="6355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4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Interface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18288"/>
          </a:xfrm>
          <a:prstGeom prst="rect">
            <a:avLst/>
          </a:prstGeom>
          <a:solidFill>
            <a:srgbClr val="DADB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web UI wraps the detection pipeline so anyone can test it without touching code.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64922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423160"/>
            <a:ext cx="6492240" cy="411480"/>
          </a:xfrm>
          <a:prstGeom prst="rect">
            <a:avLst/>
          </a:prstGeom>
          <a:solidFill>
            <a:srgbClr val="E3E4E1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560320"/>
            <a:ext cx="137160" cy="137160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9" name="Shape 7"/>
          <p:cNvSpPr/>
          <p:nvPr/>
        </p:nvSpPr>
        <p:spPr>
          <a:xfrm>
            <a:off x="1033272" y="2560320"/>
            <a:ext cx="137160" cy="137160"/>
          </a:xfrm>
          <a:prstGeom prst="ellipse">
            <a:avLst/>
          </a:prstGeom>
          <a:solidFill>
            <a:srgbClr val="FDB813"/>
          </a:solidFill>
          <a:ln/>
        </p:spPr>
      </p:sp>
      <p:sp>
        <p:nvSpPr>
          <p:cNvPr id="10" name="Shape 8"/>
          <p:cNvSpPr/>
          <p:nvPr/>
        </p:nvSpPr>
        <p:spPr>
          <a:xfrm>
            <a:off x="1289304" y="2560320"/>
            <a:ext cx="137160" cy="137160"/>
          </a:xfrm>
          <a:prstGeom prst="ellipse">
            <a:avLst/>
          </a:prstGeom>
          <a:solidFill>
            <a:srgbClr val="8FBF87"/>
          </a:solidFill>
          <a:ln/>
        </p:spPr>
      </p:sp>
      <p:sp>
        <p:nvSpPr>
          <p:cNvPr id="11" name="Text 9"/>
          <p:cNvSpPr/>
          <p:nvPr/>
        </p:nvSpPr>
        <p:spPr>
          <a:xfrm>
            <a:off x="1737360" y="24231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🕳️ Pothole Detection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3063240"/>
            <a:ext cx="2834640" cy="2514600"/>
          </a:xfrm>
          <a:prstGeom prst="roundRect">
            <a:avLst>
              <a:gd name="adj" fmla="val 1563"/>
            </a:avLst>
          </a:prstGeom>
          <a:solidFill>
            <a:srgbClr val="EFEFED"/>
          </a:solidFill>
          <a:ln w="12700">
            <a:solidFill>
              <a:srgbClr val="DADB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3662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 Upload Image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3246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Image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86200" y="3063240"/>
            <a:ext cx="2834640" cy="2514600"/>
          </a:xfrm>
          <a:prstGeom prst="roundRect">
            <a:avLst>
              <a:gd name="adj" fmla="val 2500"/>
            </a:avLst>
          </a:prstGeom>
          <a:solidFill>
            <a:srgbClr val="24262B"/>
          </a:solidFill>
          <a:ln/>
        </p:spPr>
      </p:sp>
      <p:sp>
        <p:nvSpPr>
          <p:cNvPr id="15" name="Text 13"/>
          <p:cNvSpPr/>
          <p:nvPr/>
        </p:nvSpPr>
        <p:spPr>
          <a:xfrm>
            <a:off x="3886200" y="3246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Result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5760720"/>
            <a:ext cx="5852160" cy="411480"/>
          </a:xfrm>
          <a:prstGeom prst="roundRect">
            <a:avLst>
              <a:gd name="adj" fmla="val 4167"/>
            </a:avLst>
          </a:prstGeom>
          <a:solidFill>
            <a:srgbClr val="E6F4EA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8293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Detected potholes: 3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269480" y="2423160"/>
            <a:ext cx="4343400" cy="3977640"/>
          </a:xfrm>
          <a:prstGeom prst="roundRect">
            <a:avLst>
              <a:gd name="adj" fmla="val 1839"/>
            </a:avLst>
          </a:prstGeom>
          <a:solidFill>
            <a:srgbClr val="24262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589520" y="2697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DB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STREAMLIT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0" y="3246120"/>
            <a:ext cx="128016" cy="128016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21" name="Text 19"/>
          <p:cNvSpPr/>
          <p:nvPr/>
        </p:nvSpPr>
        <p:spPr>
          <a:xfrm>
            <a:off x="7845552" y="3127248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st.tabs split Image and Video Detection workflows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589520" y="3904488"/>
            <a:ext cx="128016" cy="128016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23" name="Text 21"/>
          <p:cNvSpPr/>
          <p:nvPr/>
        </p:nvSpPr>
        <p:spPr>
          <a:xfrm>
            <a:off x="7845552" y="3785616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st.columns place the input and detection result side by side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589520" y="4562856"/>
            <a:ext cx="128016" cy="128016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25" name="Text 23"/>
          <p:cNvSpPr/>
          <p:nvPr/>
        </p:nvSpPr>
        <p:spPr>
          <a:xfrm>
            <a:off x="7845552" y="4443984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st.slider sets a shared confidence threshold for both tabs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589520" y="5221224"/>
            <a:ext cx="128016" cy="128016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27" name="Text 25"/>
          <p:cNvSpPr/>
          <p:nvPr/>
        </p:nvSpPr>
        <p:spPr>
          <a:xfrm>
            <a:off x="7845552" y="5102352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streamlit run app.py, deployed via Streamlit Community Cloud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634472" y="6355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4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GOING LIVE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18288"/>
          </a:xfrm>
          <a:prstGeom prst="rect">
            <a:avLst/>
          </a:prstGeom>
          <a:solidFill>
            <a:srgbClr val="DADBD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0312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423160"/>
            <a:ext cx="640080" cy="640080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Notebook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68680" y="384048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runs in a hosted notebook environment, with the output video saved to disk during each run.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210312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24262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423160"/>
            <a:ext cx="640080" cy="640080"/>
          </a:xfrm>
          <a:prstGeom prst="ellipse">
            <a:avLst/>
          </a:prstGeom>
          <a:solidFill>
            <a:srgbClr val="FDB813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13" name="Text 11"/>
          <p:cNvSpPr/>
          <p:nvPr/>
        </p:nvSpPr>
        <p:spPr>
          <a:xfrm>
            <a:off x="4663440" y="32461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Gradio Share Link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63440" y="384048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video_demo.launch(share=True) exposes a temporary public URL, so the app is reachable without local setup.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210312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2423160"/>
            <a:ext cx="640080" cy="640080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18" name="Text 16"/>
          <p:cNvSpPr/>
          <p:nvPr/>
        </p:nvSpPr>
        <p:spPr>
          <a:xfrm>
            <a:off x="8458200" y="32461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Portable Pipeline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458200" y="384048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model and interface are decoupled, the same pipeline can move to a longer-lived server or app later.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634472" y="6355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4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1097280"/>
            <a:ext cx="2286000" cy="2286000"/>
          </a:xfrm>
          <a:prstGeom prst="ellipse">
            <a:avLst/>
          </a:prstGeom>
          <a:solidFill>
            <a:srgbClr val="34363D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5623560" y="1874520"/>
            <a:ext cx="914400" cy="731520"/>
          </a:xfrm>
          <a:prstGeom prst="triangle">
            <a:avLst/>
          </a:prstGeom>
          <a:solidFill>
            <a:srgbClr val="FDB81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965960" y="44805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Uploading a road video into the Gradio app → watching potholes and traffic signs get detected in real time → reviewing the auto-generated road-condition report.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34472" y="6355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4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DB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18288"/>
          </a:xfrm>
          <a:prstGeom prst="rect">
            <a:avLst/>
          </a:prstGeom>
          <a:solidFill>
            <a:srgbClr val="44464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Road Detector shows that a YOLO11-based pipeline can turn ordinary road video into automatic, real-time hazard and signage detection — accessible through a simple web interface.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146304" cy="146304"/>
          </a:xfrm>
          <a:prstGeom prst="ellipse">
            <a:avLst/>
          </a:prstGeom>
          <a:solidFill>
            <a:srgbClr val="FDB81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971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 custom YOLO11 detector on pothole &amp; traffic-sign data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146304" cy="146304"/>
          </a:xfrm>
          <a:prstGeom prst="ellipse">
            <a:avLst/>
          </a:prstGeom>
          <a:solidFill>
            <a:srgbClr val="FDB813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474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full video-processing pipeline with per-frame counting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146304" cy="146304"/>
          </a:xfrm>
          <a:prstGeom prst="ellipse">
            <a:avLst/>
          </a:prstGeom>
          <a:solidFill>
            <a:srgbClr val="FDB81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977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results through an accessible Gradio web app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75120" y="292608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34363D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95160" y="31546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DB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95160" y="356616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Real-time deployment on embedded / edge devices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995160" y="422452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 GPS tagging to map hazards on real roads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995160" y="4882896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Expand to more sign types and damage categories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126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8D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634472" y="6355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2026-09-03T00:59:27Z</dcterms:created>
  <dcterms:modified xsi:type="dcterms:W3CDTF">2026-09-03T00:59:27Z</dcterms:modified>
</cp:coreProperties>
</file>